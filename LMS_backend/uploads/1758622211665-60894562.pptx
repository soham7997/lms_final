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4"/>
  </p:notesMasterIdLst>
  <p:sldIdLst>
    <p:sldId id="256" r:id="rId2"/>
    <p:sldId id="257" r:id="rId3"/>
    <p:sldId id="263" r:id="rId4"/>
    <p:sldId id="264" r:id="rId5"/>
    <p:sldId id="267" r:id="rId6"/>
    <p:sldId id="269" r:id="rId7"/>
    <p:sldId id="270" r:id="rId8"/>
    <p:sldId id="258" r:id="rId9"/>
    <p:sldId id="259" r:id="rId10"/>
    <p:sldId id="260" r:id="rId11"/>
    <p:sldId id="261" r:id="rId12"/>
    <p:sldId id="262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B68175-97BA-4418-8D59-A58B6E8AA35B}">
  <a:tblStyle styleId="{CEB68175-97BA-4418-8D59-A58B6E8AA3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8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5FE6C9-BC4E-4892-A552-6A3EB6110D8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580BCDF-FDA6-41FC-A46D-074F31241BBD}">
      <dgm:prSet phldrT="[Text]"/>
      <dgm:spPr>
        <a:solidFill>
          <a:schemeClr val="tx1">
            <a:lumMod val="90000"/>
            <a:lumOff val="10000"/>
          </a:schemeClr>
        </a:solidFill>
        <a:ln>
          <a:solidFill>
            <a:schemeClr val="tx1">
              <a:lumMod val="90000"/>
              <a:lumOff val="10000"/>
            </a:schemeClr>
          </a:solidFill>
        </a:ln>
      </dgm:spPr>
      <dgm:t>
        <a:bodyPr/>
        <a:lstStyle/>
        <a:p>
          <a:r>
            <a:rPr lang="en-GB" b="0" i="0" dirty="0"/>
            <a:t>AI-Driven Autonomous Surveillance System</a:t>
          </a:r>
          <a:endParaRPr lang="en-IN" dirty="0"/>
        </a:p>
      </dgm:t>
    </dgm:pt>
    <dgm:pt modelId="{4ABBCA91-7B38-469C-A845-299CD6C8BF1A}" type="parTrans" cxnId="{C2BDE250-3DC9-48A1-BC22-C41C1C5ED326}">
      <dgm:prSet/>
      <dgm:spPr/>
      <dgm:t>
        <a:bodyPr/>
        <a:lstStyle/>
        <a:p>
          <a:endParaRPr lang="en-IN"/>
        </a:p>
      </dgm:t>
    </dgm:pt>
    <dgm:pt modelId="{28813496-E5B4-45A5-ACE7-055B20322796}" type="sibTrans" cxnId="{C2BDE250-3DC9-48A1-BC22-C41C1C5ED326}">
      <dgm:prSet/>
      <dgm:spPr/>
      <dgm:t>
        <a:bodyPr/>
        <a:lstStyle/>
        <a:p>
          <a:endParaRPr lang="en-IN"/>
        </a:p>
      </dgm:t>
    </dgm:pt>
    <dgm:pt modelId="{AC54B40F-3013-42EA-82AB-73B086B8F313}">
      <dgm:prSet phldrT="[Text]"/>
      <dgm:spPr>
        <a:solidFill>
          <a:schemeClr val="tx1">
            <a:lumMod val="90000"/>
            <a:lumOff val="10000"/>
          </a:schemeClr>
        </a:solidFill>
        <a:ln>
          <a:solidFill>
            <a:schemeClr val="tx1">
              <a:lumMod val="90000"/>
              <a:lumOff val="10000"/>
            </a:schemeClr>
          </a:solidFill>
        </a:ln>
      </dgm:spPr>
      <dgm:t>
        <a:bodyPr/>
        <a:lstStyle/>
        <a:p>
          <a:r>
            <a:rPr lang="en-GB" b="0" i="0" dirty="0"/>
            <a:t>Intelligent Real-Time Human Identification</a:t>
          </a:r>
          <a:endParaRPr lang="en-IN" dirty="0"/>
        </a:p>
      </dgm:t>
    </dgm:pt>
    <dgm:pt modelId="{9BB17960-A114-421F-971B-D46C373429AA}" type="parTrans" cxnId="{8A2D844B-A50F-4863-BB04-56847C424DE3}">
      <dgm:prSet/>
      <dgm:spPr/>
      <dgm:t>
        <a:bodyPr/>
        <a:lstStyle/>
        <a:p>
          <a:endParaRPr lang="en-IN"/>
        </a:p>
      </dgm:t>
    </dgm:pt>
    <dgm:pt modelId="{A896C50F-A69A-414B-8DD1-3598FB6953AA}" type="sibTrans" cxnId="{8A2D844B-A50F-4863-BB04-56847C424DE3}">
      <dgm:prSet/>
      <dgm:spPr/>
      <dgm:t>
        <a:bodyPr/>
        <a:lstStyle/>
        <a:p>
          <a:endParaRPr lang="en-IN"/>
        </a:p>
      </dgm:t>
    </dgm:pt>
    <dgm:pt modelId="{EB81AF7F-9C1E-4155-AC6D-664EF25741E5}">
      <dgm:prSet phldrT="[Text]"/>
      <dgm:spPr>
        <a:solidFill>
          <a:schemeClr val="tx1">
            <a:lumMod val="90000"/>
            <a:lumOff val="10000"/>
          </a:schemeClr>
        </a:solidFill>
        <a:ln>
          <a:solidFill>
            <a:schemeClr val="tx1">
              <a:lumMod val="90000"/>
              <a:lumOff val="10000"/>
            </a:schemeClr>
          </a:solidFill>
        </a:ln>
      </dgm:spPr>
      <dgm:t>
        <a:bodyPr/>
        <a:lstStyle/>
        <a:p>
          <a:pPr>
            <a:buNone/>
          </a:pPr>
          <a:r>
            <a:rPr lang="en-US" b="0" dirty="0">
              <a:solidFill>
                <a:schemeClr val="bg1"/>
              </a:solidFill>
              <a:latin typeface="+mn-lt"/>
            </a:rPr>
            <a:t>AI + Human Collaboration and Real-Time Feedback</a:t>
          </a:r>
          <a:endParaRPr lang="en-IN" b="0" dirty="0">
            <a:latin typeface="+mn-lt"/>
          </a:endParaRPr>
        </a:p>
      </dgm:t>
    </dgm:pt>
    <dgm:pt modelId="{C3899D1B-FC01-4E01-AC0A-7F023B46995E}" type="parTrans" cxnId="{8347846D-159C-4329-BAD5-90806C9AEBF2}">
      <dgm:prSet/>
      <dgm:spPr/>
      <dgm:t>
        <a:bodyPr/>
        <a:lstStyle/>
        <a:p>
          <a:endParaRPr lang="en-IN"/>
        </a:p>
      </dgm:t>
    </dgm:pt>
    <dgm:pt modelId="{D7EE9BE1-1251-4E0D-A48E-7EDDFA0DB885}" type="sibTrans" cxnId="{8347846D-159C-4329-BAD5-90806C9AEBF2}">
      <dgm:prSet/>
      <dgm:spPr/>
      <dgm:t>
        <a:bodyPr/>
        <a:lstStyle/>
        <a:p>
          <a:endParaRPr lang="en-IN"/>
        </a:p>
      </dgm:t>
    </dgm:pt>
    <dgm:pt modelId="{B72EFB60-BF32-4C19-9E77-C5AEC565CCC1}" type="pres">
      <dgm:prSet presAssocID="{785FE6C9-BC4E-4892-A552-6A3EB6110D81}" presName="Name0" presStyleCnt="0">
        <dgm:presLayoutVars>
          <dgm:chMax val="7"/>
          <dgm:chPref val="7"/>
          <dgm:dir/>
        </dgm:presLayoutVars>
      </dgm:prSet>
      <dgm:spPr/>
    </dgm:pt>
    <dgm:pt modelId="{799F189B-0232-4113-AE6E-ED7F0C8B0E82}" type="pres">
      <dgm:prSet presAssocID="{785FE6C9-BC4E-4892-A552-6A3EB6110D81}" presName="Name1" presStyleCnt="0"/>
      <dgm:spPr/>
    </dgm:pt>
    <dgm:pt modelId="{8D47FEDD-E864-41E5-816F-03B8610306A8}" type="pres">
      <dgm:prSet presAssocID="{785FE6C9-BC4E-4892-A552-6A3EB6110D81}" presName="cycle" presStyleCnt="0"/>
      <dgm:spPr/>
    </dgm:pt>
    <dgm:pt modelId="{1567FE3B-23D8-482F-A070-6BF8C2A7DF89}" type="pres">
      <dgm:prSet presAssocID="{785FE6C9-BC4E-4892-A552-6A3EB6110D81}" presName="srcNode" presStyleLbl="node1" presStyleIdx="0" presStyleCnt="3"/>
      <dgm:spPr/>
    </dgm:pt>
    <dgm:pt modelId="{71B4D3F9-2C8D-454E-99A1-49CCC13A5403}" type="pres">
      <dgm:prSet presAssocID="{785FE6C9-BC4E-4892-A552-6A3EB6110D81}" presName="conn" presStyleLbl="parChTrans1D2" presStyleIdx="0" presStyleCnt="1"/>
      <dgm:spPr/>
    </dgm:pt>
    <dgm:pt modelId="{E5C36CA2-180D-451D-9043-03554DA399D9}" type="pres">
      <dgm:prSet presAssocID="{785FE6C9-BC4E-4892-A552-6A3EB6110D81}" presName="extraNode" presStyleLbl="node1" presStyleIdx="0" presStyleCnt="3"/>
      <dgm:spPr/>
    </dgm:pt>
    <dgm:pt modelId="{94D64BD2-7359-45FF-97AB-4769E11E331F}" type="pres">
      <dgm:prSet presAssocID="{785FE6C9-BC4E-4892-A552-6A3EB6110D81}" presName="dstNode" presStyleLbl="node1" presStyleIdx="0" presStyleCnt="3"/>
      <dgm:spPr/>
    </dgm:pt>
    <dgm:pt modelId="{AF3664FE-FFC1-4E6D-9FC1-55E39E5E12F8}" type="pres">
      <dgm:prSet presAssocID="{A580BCDF-FDA6-41FC-A46D-074F31241BBD}" presName="text_1" presStyleLbl="node1" presStyleIdx="0" presStyleCnt="3">
        <dgm:presLayoutVars>
          <dgm:bulletEnabled val="1"/>
        </dgm:presLayoutVars>
      </dgm:prSet>
      <dgm:spPr/>
    </dgm:pt>
    <dgm:pt modelId="{4D55075E-36D0-4A61-BAFD-F3B58FBB919A}" type="pres">
      <dgm:prSet presAssocID="{A580BCDF-FDA6-41FC-A46D-074F31241BBD}" presName="accent_1" presStyleCnt="0"/>
      <dgm:spPr/>
    </dgm:pt>
    <dgm:pt modelId="{2DC537F9-D0B0-43EE-B40C-210518DAE9EC}" type="pres">
      <dgm:prSet presAssocID="{A580BCDF-FDA6-41FC-A46D-074F31241BBD}" presName="accentRepeatNode" presStyleLbl="solidFgAcc1" presStyleIdx="0" presStyleCnt="3"/>
      <dgm:spPr/>
    </dgm:pt>
    <dgm:pt modelId="{FA024B8E-3F35-468B-90E8-62D572E68D2B}" type="pres">
      <dgm:prSet presAssocID="{AC54B40F-3013-42EA-82AB-73B086B8F313}" presName="text_2" presStyleLbl="node1" presStyleIdx="1" presStyleCnt="3">
        <dgm:presLayoutVars>
          <dgm:bulletEnabled val="1"/>
        </dgm:presLayoutVars>
      </dgm:prSet>
      <dgm:spPr/>
    </dgm:pt>
    <dgm:pt modelId="{3F701B1D-4D4D-4797-8093-EFECCB5A72EF}" type="pres">
      <dgm:prSet presAssocID="{AC54B40F-3013-42EA-82AB-73B086B8F313}" presName="accent_2" presStyleCnt="0"/>
      <dgm:spPr/>
    </dgm:pt>
    <dgm:pt modelId="{A31A77E3-2021-4F3D-BF43-08CBD1EF2ADC}" type="pres">
      <dgm:prSet presAssocID="{AC54B40F-3013-42EA-82AB-73B086B8F313}" presName="accentRepeatNode" presStyleLbl="solidFgAcc1" presStyleIdx="1" presStyleCnt="3"/>
      <dgm:spPr/>
    </dgm:pt>
    <dgm:pt modelId="{66881459-70E4-4BEC-9444-6E266A0684B0}" type="pres">
      <dgm:prSet presAssocID="{EB81AF7F-9C1E-4155-AC6D-664EF25741E5}" presName="text_3" presStyleLbl="node1" presStyleIdx="2" presStyleCnt="3">
        <dgm:presLayoutVars>
          <dgm:bulletEnabled val="1"/>
        </dgm:presLayoutVars>
      </dgm:prSet>
      <dgm:spPr/>
    </dgm:pt>
    <dgm:pt modelId="{A648647E-BD6C-400F-AEBF-777592D8C148}" type="pres">
      <dgm:prSet presAssocID="{EB81AF7F-9C1E-4155-AC6D-664EF25741E5}" presName="accent_3" presStyleCnt="0"/>
      <dgm:spPr/>
    </dgm:pt>
    <dgm:pt modelId="{B047DAA1-CA96-4556-92B2-7033BBF0B847}" type="pres">
      <dgm:prSet presAssocID="{EB81AF7F-9C1E-4155-AC6D-664EF25741E5}" presName="accentRepeatNode" presStyleLbl="solidFgAcc1" presStyleIdx="2" presStyleCnt="3"/>
      <dgm:spPr/>
    </dgm:pt>
  </dgm:ptLst>
  <dgm:cxnLst>
    <dgm:cxn modelId="{529E350C-71F6-46F0-A6BC-4C13D5B6FB21}" type="presOf" srcId="{28813496-E5B4-45A5-ACE7-055B20322796}" destId="{71B4D3F9-2C8D-454E-99A1-49CCC13A5403}" srcOrd="0" destOrd="0" presId="urn:microsoft.com/office/officeart/2008/layout/VerticalCurvedList"/>
    <dgm:cxn modelId="{C7765B61-936C-48AB-B302-112DCA212A39}" type="presOf" srcId="{A580BCDF-FDA6-41FC-A46D-074F31241BBD}" destId="{AF3664FE-FFC1-4E6D-9FC1-55E39E5E12F8}" srcOrd="0" destOrd="0" presId="urn:microsoft.com/office/officeart/2008/layout/VerticalCurvedList"/>
    <dgm:cxn modelId="{8A2D844B-A50F-4863-BB04-56847C424DE3}" srcId="{785FE6C9-BC4E-4892-A552-6A3EB6110D81}" destId="{AC54B40F-3013-42EA-82AB-73B086B8F313}" srcOrd="1" destOrd="0" parTransId="{9BB17960-A114-421F-971B-D46C373429AA}" sibTransId="{A896C50F-A69A-414B-8DD1-3598FB6953AA}"/>
    <dgm:cxn modelId="{8347846D-159C-4329-BAD5-90806C9AEBF2}" srcId="{785FE6C9-BC4E-4892-A552-6A3EB6110D81}" destId="{EB81AF7F-9C1E-4155-AC6D-664EF25741E5}" srcOrd="2" destOrd="0" parTransId="{C3899D1B-FC01-4E01-AC0A-7F023B46995E}" sibTransId="{D7EE9BE1-1251-4E0D-A48E-7EDDFA0DB885}"/>
    <dgm:cxn modelId="{C2BDE250-3DC9-48A1-BC22-C41C1C5ED326}" srcId="{785FE6C9-BC4E-4892-A552-6A3EB6110D81}" destId="{A580BCDF-FDA6-41FC-A46D-074F31241BBD}" srcOrd="0" destOrd="0" parTransId="{4ABBCA91-7B38-469C-A845-299CD6C8BF1A}" sibTransId="{28813496-E5B4-45A5-ACE7-055B20322796}"/>
    <dgm:cxn modelId="{FF02F677-B850-4C33-9122-270F096CAF34}" type="presOf" srcId="{AC54B40F-3013-42EA-82AB-73B086B8F313}" destId="{FA024B8E-3F35-468B-90E8-62D572E68D2B}" srcOrd="0" destOrd="0" presId="urn:microsoft.com/office/officeart/2008/layout/VerticalCurvedList"/>
    <dgm:cxn modelId="{733B0F93-01B6-4AF1-8499-222C8BED1636}" type="presOf" srcId="{EB81AF7F-9C1E-4155-AC6D-664EF25741E5}" destId="{66881459-70E4-4BEC-9444-6E266A0684B0}" srcOrd="0" destOrd="0" presId="urn:microsoft.com/office/officeart/2008/layout/VerticalCurvedList"/>
    <dgm:cxn modelId="{332704EE-868A-450D-AA17-7119E2AFAF1F}" type="presOf" srcId="{785FE6C9-BC4E-4892-A552-6A3EB6110D81}" destId="{B72EFB60-BF32-4C19-9E77-C5AEC565CCC1}" srcOrd="0" destOrd="0" presId="urn:microsoft.com/office/officeart/2008/layout/VerticalCurvedList"/>
    <dgm:cxn modelId="{9F41AFE0-09B7-4CCB-9619-7A03A50544DC}" type="presParOf" srcId="{B72EFB60-BF32-4C19-9E77-C5AEC565CCC1}" destId="{799F189B-0232-4113-AE6E-ED7F0C8B0E82}" srcOrd="0" destOrd="0" presId="urn:microsoft.com/office/officeart/2008/layout/VerticalCurvedList"/>
    <dgm:cxn modelId="{DA160F9E-FEE8-4CF2-8360-644C46742960}" type="presParOf" srcId="{799F189B-0232-4113-AE6E-ED7F0C8B0E82}" destId="{8D47FEDD-E864-41E5-816F-03B8610306A8}" srcOrd="0" destOrd="0" presId="urn:microsoft.com/office/officeart/2008/layout/VerticalCurvedList"/>
    <dgm:cxn modelId="{4B022A33-8B73-498A-8117-2BB93E744F1F}" type="presParOf" srcId="{8D47FEDD-E864-41E5-816F-03B8610306A8}" destId="{1567FE3B-23D8-482F-A070-6BF8C2A7DF89}" srcOrd="0" destOrd="0" presId="urn:microsoft.com/office/officeart/2008/layout/VerticalCurvedList"/>
    <dgm:cxn modelId="{F3F21C9A-CB1F-4AE8-8D41-B407DDBE0952}" type="presParOf" srcId="{8D47FEDD-E864-41E5-816F-03B8610306A8}" destId="{71B4D3F9-2C8D-454E-99A1-49CCC13A5403}" srcOrd="1" destOrd="0" presId="urn:microsoft.com/office/officeart/2008/layout/VerticalCurvedList"/>
    <dgm:cxn modelId="{4261A3C4-30D0-492D-A60A-C2E7610AF709}" type="presParOf" srcId="{8D47FEDD-E864-41E5-816F-03B8610306A8}" destId="{E5C36CA2-180D-451D-9043-03554DA399D9}" srcOrd="2" destOrd="0" presId="urn:microsoft.com/office/officeart/2008/layout/VerticalCurvedList"/>
    <dgm:cxn modelId="{C3E0F06E-8CB4-4178-9EF2-C7660782C6D3}" type="presParOf" srcId="{8D47FEDD-E864-41E5-816F-03B8610306A8}" destId="{94D64BD2-7359-45FF-97AB-4769E11E331F}" srcOrd="3" destOrd="0" presId="urn:microsoft.com/office/officeart/2008/layout/VerticalCurvedList"/>
    <dgm:cxn modelId="{2557D5DF-8C1B-4F49-9293-FAC6A4DF3A5E}" type="presParOf" srcId="{799F189B-0232-4113-AE6E-ED7F0C8B0E82}" destId="{AF3664FE-FFC1-4E6D-9FC1-55E39E5E12F8}" srcOrd="1" destOrd="0" presId="urn:microsoft.com/office/officeart/2008/layout/VerticalCurvedList"/>
    <dgm:cxn modelId="{98478EDB-6BC3-40F4-820D-BF1F84004C47}" type="presParOf" srcId="{799F189B-0232-4113-AE6E-ED7F0C8B0E82}" destId="{4D55075E-36D0-4A61-BAFD-F3B58FBB919A}" srcOrd="2" destOrd="0" presId="urn:microsoft.com/office/officeart/2008/layout/VerticalCurvedList"/>
    <dgm:cxn modelId="{C7B23349-62DB-4B12-9B1A-37067C6BA6D0}" type="presParOf" srcId="{4D55075E-36D0-4A61-BAFD-F3B58FBB919A}" destId="{2DC537F9-D0B0-43EE-B40C-210518DAE9EC}" srcOrd="0" destOrd="0" presId="urn:microsoft.com/office/officeart/2008/layout/VerticalCurvedList"/>
    <dgm:cxn modelId="{804B4397-0DE7-4C69-A903-EAF25ECFA4DF}" type="presParOf" srcId="{799F189B-0232-4113-AE6E-ED7F0C8B0E82}" destId="{FA024B8E-3F35-468B-90E8-62D572E68D2B}" srcOrd="3" destOrd="0" presId="urn:microsoft.com/office/officeart/2008/layout/VerticalCurvedList"/>
    <dgm:cxn modelId="{C7F337C2-1705-457A-8BF5-FE8050CDDC75}" type="presParOf" srcId="{799F189B-0232-4113-AE6E-ED7F0C8B0E82}" destId="{3F701B1D-4D4D-4797-8093-EFECCB5A72EF}" srcOrd="4" destOrd="0" presId="urn:microsoft.com/office/officeart/2008/layout/VerticalCurvedList"/>
    <dgm:cxn modelId="{2FD1878A-B512-4355-98AA-CC57D6C6192B}" type="presParOf" srcId="{3F701B1D-4D4D-4797-8093-EFECCB5A72EF}" destId="{A31A77E3-2021-4F3D-BF43-08CBD1EF2ADC}" srcOrd="0" destOrd="0" presId="urn:microsoft.com/office/officeart/2008/layout/VerticalCurvedList"/>
    <dgm:cxn modelId="{15C8D9A6-CB9D-49DD-9071-43FE055555AD}" type="presParOf" srcId="{799F189B-0232-4113-AE6E-ED7F0C8B0E82}" destId="{66881459-70E4-4BEC-9444-6E266A0684B0}" srcOrd="5" destOrd="0" presId="urn:microsoft.com/office/officeart/2008/layout/VerticalCurvedList"/>
    <dgm:cxn modelId="{4CB85AA4-9315-4C42-BC21-2723A34636BE}" type="presParOf" srcId="{799F189B-0232-4113-AE6E-ED7F0C8B0E82}" destId="{A648647E-BD6C-400F-AEBF-777592D8C148}" srcOrd="6" destOrd="0" presId="urn:microsoft.com/office/officeart/2008/layout/VerticalCurvedList"/>
    <dgm:cxn modelId="{79DB9681-DAEA-401F-8F38-34326881646F}" type="presParOf" srcId="{A648647E-BD6C-400F-AEBF-777592D8C148}" destId="{B047DAA1-CA96-4556-92B2-7033BBF0B84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4D3F9-2C8D-454E-99A1-49CCC13A5403}">
      <dsp:nvSpPr>
        <dsp:cNvPr id="0" name=""/>
        <dsp:cNvSpPr/>
      </dsp:nvSpPr>
      <dsp:spPr>
        <a:xfrm>
          <a:off x="-4202997" y="-644914"/>
          <a:ext cx="5007934" cy="5007934"/>
        </a:xfrm>
        <a:prstGeom prst="blockArc">
          <a:avLst>
            <a:gd name="adj1" fmla="val 18900000"/>
            <a:gd name="adj2" fmla="val 2700000"/>
            <a:gd name="adj3" fmla="val 431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3664FE-FFC1-4E6D-9FC1-55E39E5E12F8}">
      <dsp:nvSpPr>
        <dsp:cNvPr id="0" name=""/>
        <dsp:cNvSpPr/>
      </dsp:nvSpPr>
      <dsp:spPr>
        <a:xfrm>
          <a:off x="517659" y="371810"/>
          <a:ext cx="5075135" cy="743621"/>
        </a:xfrm>
        <a:prstGeom prst="rect">
          <a:avLst/>
        </a:prstGeom>
        <a:solidFill>
          <a:schemeClr val="tx1">
            <a:lumMod val="90000"/>
            <a:lumOff val="10000"/>
          </a:schemeClr>
        </a:solidFill>
        <a:ln w="25400" cap="flat" cmpd="sng" algn="ctr">
          <a:solidFill>
            <a:schemeClr val="tx1">
              <a:lumMod val="90000"/>
              <a:lumOff val="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24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i="0" kern="1200" dirty="0"/>
            <a:t>AI-Driven Autonomous Surveillance System</a:t>
          </a:r>
          <a:endParaRPr lang="en-IN" sz="2300" kern="1200" dirty="0"/>
        </a:p>
      </dsp:txBody>
      <dsp:txXfrm>
        <a:off x="517659" y="371810"/>
        <a:ext cx="5075135" cy="743621"/>
      </dsp:txXfrm>
    </dsp:sp>
    <dsp:sp modelId="{2DC537F9-D0B0-43EE-B40C-210518DAE9EC}">
      <dsp:nvSpPr>
        <dsp:cNvPr id="0" name=""/>
        <dsp:cNvSpPr/>
      </dsp:nvSpPr>
      <dsp:spPr>
        <a:xfrm>
          <a:off x="52896" y="278857"/>
          <a:ext cx="929526" cy="929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24B8E-3F35-468B-90E8-62D572E68D2B}">
      <dsp:nvSpPr>
        <dsp:cNvPr id="0" name=""/>
        <dsp:cNvSpPr/>
      </dsp:nvSpPr>
      <dsp:spPr>
        <a:xfrm>
          <a:off x="787965" y="1487242"/>
          <a:ext cx="4804828" cy="743621"/>
        </a:xfrm>
        <a:prstGeom prst="rect">
          <a:avLst/>
        </a:prstGeom>
        <a:solidFill>
          <a:schemeClr val="tx1">
            <a:lumMod val="90000"/>
            <a:lumOff val="10000"/>
          </a:schemeClr>
        </a:solidFill>
        <a:ln w="25400" cap="flat" cmpd="sng" algn="ctr">
          <a:solidFill>
            <a:schemeClr val="tx1">
              <a:lumMod val="90000"/>
              <a:lumOff val="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24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i="0" kern="1200" dirty="0"/>
            <a:t>Intelligent Real-Time Human Identification</a:t>
          </a:r>
          <a:endParaRPr lang="en-IN" sz="2300" kern="1200" dirty="0"/>
        </a:p>
      </dsp:txBody>
      <dsp:txXfrm>
        <a:off x="787965" y="1487242"/>
        <a:ext cx="4804828" cy="743621"/>
      </dsp:txXfrm>
    </dsp:sp>
    <dsp:sp modelId="{A31A77E3-2021-4F3D-BF43-08CBD1EF2ADC}">
      <dsp:nvSpPr>
        <dsp:cNvPr id="0" name=""/>
        <dsp:cNvSpPr/>
      </dsp:nvSpPr>
      <dsp:spPr>
        <a:xfrm>
          <a:off x="323202" y="1394289"/>
          <a:ext cx="929526" cy="929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881459-70E4-4BEC-9444-6E266A0684B0}">
      <dsp:nvSpPr>
        <dsp:cNvPr id="0" name=""/>
        <dsp:cNvSpPr/>
      </dsp:nvSpPr>
      <dsp:spPr>
        <a:xfrm>
          <a:off x="517659" y="2602674"/>
          <a:ext cx="5075135" cy="743621"/>
        </a:xfrm>
        <a:prstGeom prst="rect">
          <a:avLst/>
        </a:prstGeom>
        <a:solidFill>
          <a:schemeClr val="tx1">
            <a:lumMod val="90000"/>
            <a:lumOff val="10000"/>
          </a:schemeClr>
        </a:solidFill>
        <a:ln w="25400" cap="flat" cmpd="sng" algn="ctr">
          <a:solidFill>
            <a:schemeClr val="tx1">
              <a:lumMod val="90000"/>
              <a:lumOff val="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24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>
              <a:solidFill>
                <a:schemeClr val="bg1"/>
              </a:solidFill>
              <a:latin typeface="+mn-lt"/>
            </a:rPr>
            <a:t>AI + Human Collaboration and Real-Time Feedback</a:t>
          </a:r>
          <a:endParaRPr lang="en-IN" sz="2300" b="0" kern="1200" dirty="0">
            <a:latin typeface="+mn-lt"/>
          </a:endParaRPr>
        </a:p>
      </dsp:txBody>
      <dsp:txXfrm>
        <a:off x="517659" y="2602674"/>
        <a:ext cx="5075135" cy="743621"/>
      </dsp:txXfrm>
    </dsp:sp>
    <dsp:sp modelId="{B047DAA1-CA96-4556-92B2-7033BBF0B847}">
      <dsp:nvSpPr>
        <dsp:cNvPr id="0" name=""/>
        <dsp:cNvSpPr/>
      </dsp:nvSpPr>
      <dsp:spPr>
        <a:xfrm>
          <a:off x="52896" y="2509721"/>
          <a:ext cx="929526" cy="929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a7d9e0a4d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a7d9e0a4d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87997393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f87997393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9a1ed26cd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69a1ed26cd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a7d9e0a4d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6a7d9e0a4d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f96f5393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f96f5393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f87997393_0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f87997393_0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87997393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f87997393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a7d9e0a4d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a7d9e0a4d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a7d9e0a4d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a7d9e0a4d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a7d9e0a4d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6a7d9e0a4d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a7d9e0a4d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a7d9e0a4d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1" t="2690" r="40112" b="39565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09" t="35833" r="43289" b="11297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7" r:id="rId6"/>
    <p:sldLayoutId id="2147483659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ctrTitle"/>
          </p:nvPr>
        </p:nvSpPr>
        <p:spPr>
          <a:xfrm>
            <a:off x="3537150" y="976400"/>
            <a:ext cx="5017500" cy="21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Drone fundamentals (sensors etc)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SENSORS</a:t>
            </a:r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essential perceiving part of the drone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title"/>
          </p:nvPr>
        </p:nvSpPr>
        <p:spPr>
          <a:xfrm>
            <a:off x="1052550" y="3937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 Approach </a:t>
            </a:r>
            <a:r>
              <a:rPr lang="en-GB" sz="1400" dirty="0"/>
              <a:t>and the Model which can be considered</a:t>
            </a:r>
            <a:endParaRPr sz="14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99E1C9B-C562-06A7-9B01-75625FA62B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7872269"/>
              </p:ext>
            </p:extLst>
          </p:nvPr>
        </p:nvGraphicFramePr>
        <p:xfrm>
          <a:off x="1516565" y="1136392"/>
          <a:ext cx="5642518" cy="3718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EA9D5A5-C9CD-9E23-D271-9E720939EC47}"/>
              </a:ext>
            </a:extLst>
          </p:cNvPr>
          <p:cNvSpPr txBox="1"/>
          <p:nvPr/>
        </p:nvSpPr>
        <p:spPr>
          <a:xfrm>
            <a:off x="1893323" y="1681160"/>
            <a:ext cx="446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Montserrat" panose="00000500000000000000" pitchFamily="2" charset="0"/>
              </a:rPr>
              <a:t>1</a:t>
            </a:r>
            <a:endParaRPr lang="en-IN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4279FD-C2CC-65FF-7F4A-FDA514FF5793}"/>
              </a:ext>
            </a:extLst>
          </p:cNvPr>
          <p:cNvSpPr txBox="1"/>
          <p:nvPr/>
        </p:nvSpPr>
        <p:spPr>
          <a:xfrm>
            <a:off x="2116378" y="2734727"/>
            <a:ext cx="446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Montserrat" panose="00000500000000000000" pitchFamily="2" charset="0"/>
              </a:rPr>
              <a:t>2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6B001-468A-5AB1-2C6E-A228B8C64BDB}"/>
              </a:ext>
            </a:extLst>
          </p:cNvPr>
          <p:cNvSpPr txBox="1"/>
          <p:nvPr/>
        </p:nvSpPr>
        <p:spPr>
          <a:xfrm>
            <a:off x="1811548" y="3860404"/>
            <a:ext cx="446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Montserrat" panose="00000500000000000000" pitchFamily="2" charset="0"/>
              </a:rPr>
              <a:t>3</a:t>
            </a:r>
            <a:endParaRPr lang="en-IN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/>
        </p:nvSpPr>
        <p:spPr>
          <a:xfrm>
            <a:off x="1851491" y="129541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FFFFF"/>
              </a:solidFill>
            </a:endParaRPr>
          </a:p>
        </p:txBody>
      </p:sp>
      <p:sp>
        <p:nvSpPr>
          <p:cNvPr id="282" name="Google Shape;282;p25"/>
          <p:cNvSpPr txBox="1">
            <a:spLocks noGrp="1"/>
          </p:cNvSpPr>
          <p:nvPr>
            <p:ph type="body" idx="1"/>
          </p:nvPr>
        </p:nvSpPr>
        <p:spPr>
          <a:xfrm>
            <a:off x="2312000" y="163844"/>
            <a:ext cx="58773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700" dirty="0">
                <a:solidFill>
                  <a:srgbClr val="FFFFFF"/>
                </a:solidFill>
              </a:rPr>
              <a:t>AI-Driven Autonomous Surveillance System</a:t>
            </a:r>
            <a:endParaRPr sz="1700" dirty="0">
              <a:solidFill>
                <a:srgbClr val="FFFFFF"/>
              </a:solidFill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1037250" y="533941"/>
            <a:ext cx="7269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chemeClr val="lt1"/>
                </a:solidFill>
              </a:rPr>
              <a:t>Objective: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</a:rPr>
              <a:t>Enable the drone to </a:t>
            </a:r>
            <a:r>
              <a:rPr lang="en-GB" sz="900" b="1" dirty="0">
                <a:solidFill>
                  <a:schemeClr val="lt1"/>
                </a:solidFill>
              </a:rPr>
              <a:t>autonomously patrol and monitor</a:t>
            </a:r>
            <a:r>
              <a:rPr lang="en-GB" sz="900" dirty="0">
                <a:solidFill>
                  <a:schemeClr val="lt1"/>
                </a:solidFill>
              </a:rPr>
              <a:t> a designated area without human intervention.</a:t>
            </a:r>
            <a:endParaRPr sz="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C77453-A8F5-68B4-30A4-61F58E79E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80469"/>
              </p:ext>
            </p:extLst>
          </p:nvPr>
        </p:nvGraphicFramePr>
        <p:xfrm>
          <a:off x="96221" y="1542511"/>
          <a:ext cx="4475778" cy="3600990"/>
        </p:xfrm>
        <a:graphic>
          <a:graphicData uri="http://schemas.openxmlformats.org/drawingml/2006/table">
            <a:tbl>
              <a:tblPr/>
              <a:tblGrid>
                <a:gridCol w="1491926">
                  <a:extLst>
                    <a:ext uri="{9D8B030D-6E8A-4147-A177-3AD203B41FA5}">
                      <a16:colId xmlns:a16="http://schemas.microsoft.com/office/drawing/2014/main" val="2222703602"/>
                    </a:ext>
                  </a:extLst>
                </a:gridCol>
                <a:gridCol w="1491926">
                  <a:extLst>
                    <a:ext uri="{9D8B030D-6E8A-4147-A177-3AD203B41FA5}">
                      <a16:colId xmlns:a16="http://schemas.microsoft.com/office/drawing/2014/main" val="2863620084"/>
                    </a:ext>
                  </a:extLst>
                </a:gridCol>
                <a:gridCol w="1491926">
                  <a:extLst>
                    <a:ext uri="{9D8B030D-6E8A-4147-A177-3AD203B41FA5}">
                      <a16:colId xmlns:a16="http://schemas.microsoft.com/office/drawing/2014/main" val="3908050247"/>
                    </a:ext>
                  </a:extLst>
                </a:gridCol>
              </a:tblGrid>
              <a:tr h="317721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AI/ML Model or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400284"/>
                  </a:ext>
                </a:extLst>
              </a:tr>
              <a:tr h="717865">
                <a:tc>
                  <a:txBody>
                    <a:bodyPr/>
                    <a:lstStyle/>
                    <a:p>
                      <a:r>
                        <a:rPr lang="en-IN" sz="900" b="1" dirty="0">
                          <a:solidFill>
                            <a:schemeClr val="bg1"/>
                          </a:solidFill>
                        </a:rPr>
                        <a:t>Geofence Planning</a:t>
                      </a:r>
                      <a:endParaRPr lang="en-IN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dirty="0">
                          <a:solidFill>
                            <a:schemeClr val="bg1"/>
                          </a:solidFill>
                        </a:rPr>
                        <a:t>A* Path Planning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900" i="1" dirty="0">
                          <a:solidFill>
                            <a:schemeClr val="bg1"/>
                          </a:solidFill>
                        </a:rPr>
                        <a:t>RRT (Rapidly-exploring Random Trees)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Navigate predefined area while avoiding obstacles.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360730"/>
                  </a:ext>
                </a:extLst>
              </a:tr>
              <a:tr h="564837">
                <a:tc>
                  <a:txBody>
                    <a:bodyPr/>
                    <a:lstStyle/>
                    <a:p>
                      <a:r>
                        <a:rPr lang="en-IN" sz="900" b="1">
                          <a:solidFill>
                            <a:schemeClr val="bg1"/>
                          </a:solidFill>
                        </a:rPr>
                        <a:t>Scene Analysis</a:t>
                      </a:r>
                      <a:endParaRPr lang="en-IN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i="1" dirty="0">
                          <a:solidFill>
                            <a:schemeClr val="bg1"/>
                          </a:solidFill>
                        </a:rPr>
                        <a:t>YOLOv8 / SAM (Segment Anything)</a:t>
                      </a:r>
                      <a:endParaRPr lang="en-IN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Real-time detection of people or points of interest.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160883"/>
                  </a:ext>
                </a:extLst>
              </a:tr>
              <a:tr h="717865">
                <a:tc>
                  <a:txBody>
                    <a:bodyPr/>
                    <a:lstStyle/>
                    <a:p>
                      <a:r>
                        <a:rPr lang="en-IN" sz="900" b="1">
                          <a:solidFill>
                            <a:schemeClr val="bg1"/>
                          </a:solidFill>
                        </a:rPr>
                        <a:t>Autonomous Decision Making</a:t>
                      </a:r>
                      <a:endParaRPr lang="en-IN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>
                          <a:solidFill>
                            <a:schemeClr val="bg1"/>
                          </a:solidFill>
                        </a:rPr>
                        <a:t>Reinforcement Learning (RL)</a:t>
                      </a: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 — </a:t>
                      </a:r>
                      <a:r>
                        <a:rPr lang="en-US" sz="900" b="1">
                          <a:solidFill>
                            <a:schemeClr val="bg1"/>
                          </a:solidFill>
                        </a:rPr>
                        <a:t>Proximal Policy Optimization (PPO)</a:t>
                      </a:r>
                      <a:endParaRPr 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Learn how to scan more effectively over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178051"/>
                  </a:ext>
                </a:extLst>
              </a:tr>
              <a:tr h="564837">
                <a:tc>
                  <a:txBody>
                    <a:bodyPr/>
                    <a:lstStyle/>
                    <a:p>
                      <a:r>
                        <a:rPr lang="en-IN" sz="900" b="1" dirty="0">
                          <a:solidFill>
                            <a:schemeClr val="bg1"/>
                          </a:solidFill>
                        </a:rPr>
                        <a:t>Navigation</a:t>
                      </a:r>
                      <a:endParaRPr lang="en-IN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i="1">
                          <a:solidFill>
                            <a:schemeClr val="bg1"/>
                          </a:solidFill>
                        </a:rPr>
                        <a:t>ORB-SLAM3 / RTAB-Map</a:t>
                      </a:r>
                      <a:endParaRPr lang="en-IN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>
                          <a:solidFill>
                            <a:schemeClr val="bg1"/>
                          </a:solidFill>
                        </a:rPr>
                        <a:t>Visual SLAM for indoor/outdoor GPS-denied environment.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304481"/>
                  </a:ext>
                </a:extLst>
              </a:tr>
              <a:tr h="717865">
                <a:tc>
                  <a:txBody>
                    <a:bodyPr/>
                    <a:lstStyle/>
                    <a:p>
                      <a:r>
                        <a:rPr lang="en-IN" sz="900" b="1" dirty="0">
                          <a:solidFill>
                            <a:schemeClr val="bg1"/>
                          </a:solidFill>
                        </a:rPr>
                        <a:t>Flight Logic</a:t>
                      </a:r>
                      <a:endParaRPr lang="en-IN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Custom </a:t>
                      </a: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Python FSM (Finite State Machine)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or Behavior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Switch between Scan → Detect → Track → Hover modes.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9017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456743CC-CA35-91EC-7834-AF9B339E7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527" y="1734698"/>
            <a:ext cx="8596596" cy="282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9688FAC-2612-3191-603E-67B576C40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28" y="1431464"/>
            <a:ext cx="8382000" cy="409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84B76C-7801-EB07-8078-1A05A0C224C8}"/>
              </a:ext>
            </a:extLst>
          </p:cNvPr>
          <p:cNvSpPr txBox="1"/>
          <p:nvPr/>
        </p:nvSpPr>
        <p:spPr>
          <a:xfrm>
            <a:off x="2609088" y="281380"/>
            <a:ext cx="52242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Montserrat" panose="00000500000000000000" pitchFamily="2" charset="0"/>
              </a:rPr>
              <a:t>AI-Driven Autonomous Surveillance System</a:t>
            </a:r>
            <a:endParaRPr lang="en-GB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DEDCE-1A55-B7CC-F6B3-3157AD1AF309}"/>
              </a:ext>
            </a:extLst>
          </p:cNvPr>
          <p:cNvSpPr txBox="1"/>
          <p:nvPr/>
        </p:nvSpPr>
        <p:spPr>
          <a:xfrm>
            <a:off x="2103120" y="281380"/>
            <a:ext cx="7254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02</a:t>
            </a:r>
            <a:endParaRPr lang="en-GB" sz="20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/>
          <p:cNvSpPr/>
          <p:nvPr/>
        </p:nvSpPr>
        <p:spPr>
          <a:xfrm>
            <a:off x="3388475" y="3335550"/>
            <a:ext cx="656100" cy="65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88355-4A2F-31AE-779B-DF126C82A75D}"/>
              </a:ext>
            </a:extLst>
          </p:cNvPr>
          <p:cNvSpPr txBox="1"/>
          <p:nvPr/>
        </p:nvSpPr>
        <p:spPr>
          <a:xfrm>
            <a:off x="975918" y="1350391"/>
            <a:ext cx="78534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chemeClr val="bg1"/>
                </a:solidFill>
              </a:rPr>
              <a:t>Idea for vertical flowchart representing the face detection and recognition pipeline for a drone surveillance system. Include         the following blocks in order:</a:t>
            </a:r>
          </a:p>
          <a:p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1. </a:t>
            </a:r>
            <a:r>
              <a:rPr lang="en-IN" sz="1200" b="1" dirty="0">
                <a:solidFill>
                  <a:schemeClr val="bg1"/>
                </a:solidFill>
              </a:rPr>
              <a:t>Face Detection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- Tools/Models: MTCNN, YOLOv8-Face, </a:t>
            </a:r>
            <a:r>
              <a:rPr lang="en-IN" sz="1050" dirty="0" err="1">
                <a:solidFill>
                  <a:schemeClr val="bg1"/>
                </a:solidFill>
              </a:rPr>
              <a:t>RetinaFace</a:t>
            </a:r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   - Purpose: Extract all visible faces from video frames</a:t>
            </a:r>
          </a:p>
          <a:p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2. </a:t>
            </a:r>
            <a:r>
              <a:rPr lang="en-IN" sz="1050" b="1" dirty="0">
                <a:solidFill>
                  <a:schemeClr val="bg1"/>
                </a:solidFill>
              </a:rPr>
              <a:t>Face Recognition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- Tools/Models: </a:t>
            </a:r>
            <a:r>
              <a:rPr lang="en-IN" sz="1050" dirty="0" err="1">
                <a:solidFill>
                  <a:schemeClr val="bg1"/>
                </a:solidFill>
              </a:rPr>
              <a:t>FaceNet</a:t>
            </a:r>
            <a:r>
              <a:rPr lang="en-IN" sz="1050" dirty="0">
                <a:solidFill>
                  <a:schemeClr val="bg1"/>
                </a:solidFill>
              </a:rPr>
              <a:t>, </a:t>
            </a:r>
            <a:r>
              <a:rPr lang="en-IN" sz="1050" dirty="0" err="1">
                <a:solidFill>
                  <a:schemeClr val="bg1"/>
                </a:solidFill>
              </a:rPr>
              <a:t>ArcFace</a:t>
            </a:r>
            <a:r>
              <a:rPr lang="en-IN" sz="1050" dirty="0">
                <a:solidFill>
                  <a:schemeClr val="bg1"/>
                </a:solidFill>
              </a:rPr>
              <a:t>, </a:t>
            </a:r>
            <a:r>
              <a:rPr lang="en-IN" sz="1050" dirty="0" err="1">
                <a:solidFill>
                  <a:schemeClr val="bg1"/>
                </a:solidFill>
              </a:rPr>
              <a:t>Dlib</a:t>
            </a:r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   - Purpose: Compare faces with the target reference image</a:t>
            </a:r>
          </a:p>
          <a:p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3. </a:t>
            </a:r>
            <a:r>
              <a:rPr lang="en-IN" sz="1050" b="1" dirty="0">
                <a:solidFill>
                  <a:schemeClr val="bg1"/>
                </a:solidFill>
              </a:rPr>
              <a:t>Tracking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- Tools/Models: </a:t>
            </a:r>
            <a:r>
              <a:rPr lang="en-IN" sz="1050" dirty="0" err="1">
                <a:solidFill>
                  <a:schemeClr val="bg1"/>
                </a:solidFill>
              </a:rPr>
              <a:t>DeepSORT</a:t>
            </a:r>
            <a:r>
              <a:rPr lang="en-IN" sz="1050" dirty="0">
                <a:solidFill>
                  <a:schemeClr val="bg1"/>
                </a:solidFill>
              </a:rPr>
              <a:t> or </a:t>
            </a:r>
            <a:r>
              <a:rPr lang="en-IN" sz="1050" dirty="0" err="1">
                <a:solidFill>
                  <a:schemeClr val="bg1"/>
                </a:solidFill>
              </a:rPr>
              <a:t>StrongSORT</a:t>
            </a:r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   - Purpose: Persistently follow the identified person in motion</a:t>
            </a:r>
          </a:p>
          <a:p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4. </a:t>
            </a:r>
            <a:r>
              <a:rPr lang="en-IN" sz="1050" b="1" dirty="0">
                <a:solidFill>
                  <a:schemeClr val="bg1"/>
                </a:solidFill>
              </a:rPr>
              <a:t>Visual Similarity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- Tools/Models: Cosine Similarity on Face Embeddings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- Purpose: Perform high-speed vector comparison to match faces</a:t>
            </a:r>
          </a:p>
          <a:p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5. </a:t>
            </a:r>
            <a:r>
              <a:rPr lang="en-IN" sz="1050" b="1" dirty="0">
                <a:solidFill>
                  <a:schemeClr val="bg1"/>
                </a:solidFill>
              </a:rPr>
              <a:t>Edge Processing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- Tools/Models: NVIDIA Jetson Nano/Xavier, </a:t>
            </a:r>
            <a:r>
              <a:rPr lang="en-IN" sz="1050" dirty="0" err="1">
                <a:solidFill>
                  <a:schemeClr val="bg1"/>
                </a:solidFill>
              </a:rPr>
              <a:t>TensorRT</a:t>
            </a:r>
            <a:r>
              <a:rPr lang="en-IN" sz="1050" dirty="0">
                <a:solidFill>
                  <a:schemeClr val="bg1"/>
                </a:solidFill>
              </a:rPr>
              <a:t>, </a:t>
            </a:r>
            <a:r>
              <a:rPr lang="en-IN" sz="1050" dirty="0" err="1">
                <a:solidFill>
                  <a:schemeClr val="bg1"/>
                </a:solidFill>
              </a:rPr>
              <a:t>OpenVINO</a:t>
            </a:r>
            <a:endParaRPr lang="en-IN" sz="105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   - Purpose: Perform fast, low-latency inference onboard the drone</a:t>
            </a:r>
          </a:p>
          <a:p>
            <a:endParaRPr lang="en-IN" sz="1050" dirty="0">
              <a:solidFill>
                <a:schemeClr val="bg1"/>
              </a:solidFill>
            </a:endParaRPr>
          </a:p>
          <a:p>
            <a:endParaRPr lang="en-IN" sz="105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0F46F-40F7-8C20-D479-7765C603D48E}"/>
              </a:ext>
            </a:extLst>
          </p:cNvPr>
          <p:cNvSpPr txBox="1"/>
          <p:nvPr/>
        </p:nvSpPr>
        <p:spPr>
          <a:xfrm>
            <a:off x="1035222" y="182230"/>
            <a:ext cx="6615258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</a:rPr>
              <a:t>Objective:</a:t>
            </a: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chemeClr val="bg1"/>
                </a:solidFill>
              </a:rPr>
              <a:t>Enable the drone to recognize a specific individual (e.g., a missing child) using an image sent by the user.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3BFCDF3-8054-E9EA-D664-529DCA8AC2E2}"/>
              </a:ext>
            </a:extLst>
          </p:cNvPr>
          <p:cNvSpPr txBox="1"/>
          <p:nvPr/>
        </p:nvSpPr>
        <p:spPr>
          <a:xfrm>
            <a:off x="2331720" y="328761"/>
            <a:ext cx="606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600"/>
              </a:spcAft>
            </a:pPr>
            <a:r>
              <a:rPr lang="en-US" sz="1800" dirty="0">
                <a:solidFill>
                  <a:schemeClr val="bg1"/>
                </a:solidFill>
                <a:latin typeface="Montserrat" panose="00000500000000000000" pitchFamily="2" charset="0"/>
              </a:rPr>
              <a:t>AI + Human Collaboration and Real-Time Feedback</a:t>
            </a:r>
            <a:endParaRPr lang="en-GB" sz="1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6F3F3-8AB7-4D78-5A5F-C3DB7336525E}"/>
              </a:ext>
            </a:extLst>
          </p:cNvPr>
          <p:cNvSpPr txBox="1"/>
          <p:nvPr/>
        </p:nvSpPr>
        <p:spPr>
          <a:xfrm>
            <a:off x="1870710" y="313372"/>
            <a:ext cx="9982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03</a:t>
            </a:r>
            <a:endParaRPr lang="en-GB" sz="800"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17C1D-BD5D-DAFD-3556-47DEB1836F1E}"/>
              </a:ext>
            </a:extLst>
          </p:cNvPr>
          <p:cNvSpPr txBox="1"/>
          <p:nvPr/>
        </p:nvSpPr>
        <p:spPr>
          <a:xfrm>
            <a:off x="1108710" y="822959"/>
            <a:ext cx="6858000" cy="1470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</a:rPr>
              <a:t>Objective:</a:t>
            </a:r>
            <a:endParaRPr lang="en-US" sz="1100" b="1" dirty="0"/>
          </a:p>
          <a:p>
            <a:r>
              <a:rPr lang="en-US" sz="1100" dirty="0">
                <a:solidFill>
                  <a:schemeClr val="bg1"/>
                </a:solidFill>
              </a:rPr>
              <a:t>Allow the drone to operate independently, but provide </a:t>
            </a:r>
            <a:r>
              <a:rPr lang="en-US" sz="1100" b="1" dirty="0">
                <a:solidFill>
                  <a:schemeClr val="bg1"/>
                </a:solidFill>
              </a:rPr>
              <a:t>manual override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b="1" dirty="0">
                <a:solidFill>
                  <a:schemeClr val="bg1"/>
                </a:solidFill>
              </a:rPr>
              <a:t>live feed</a:t>
            </a:r>
            <a:r>
              <a:rPr lang="en-US" sz="1100" dirty="0">
                <a:solidFill>
                  <a:schemeClr val="bg1"/>
                </a:solidFill>
              </a:rPr>
              <a:t>, and </a:t>
            </a:r>
            <a:r>
              <a:rPr lang="en-US" sz="1100" b="1" dirty="0">
                <a:solidFill>
                  <a:schemeClr val="bg1"/>
                </a:solidFill>
              </a:rPr>
              <a:t>status notifications</a:t>
            </a:r>
            <a:r>
              <a:rPr lang="en-US" sz="1100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65E90-4B43-1EC4-7314-B07077214CF6}"/>
              </a:ext>
            </a:extLst>
          </p:cNvPr>
          <p:cNvSpPr txBox="1"/>
          <p:nvPr/>
        </p:nvSpPr>
        <p:spPr>
          <a:xfrm>
            <a:off x="224790" y="1665625"/>
            <a:ext cx="78105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1) Live Streaming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The drone transmits a real-time video feed using tools like </a:t>
            </a:r>
            <a:r>
              <a:rPr lang="en-US" sz="1100" b="1" dirty="0" err="1">
                <a:solidFill>
                  <a:schemeClr val="bg1"/>
                </a:solidFill>
              </a:rPr>
              <a:t>GStreamer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b="1" dirty="0" err="1">
                <a:solidFill>
                  <a:schemeClr val="bg1"/>
                </a:solidFill>
              </a:rPr>
              <a:t>FFmpeg</a:t>
            </a:r>
            <a:r>
              <a:rPr lang="en-US" sz="1100" b="1" dirty="0">
                <a:solidFill>
                  <a:schemeClr val="bg1"/>
                </a:solidFill>
              </a:rPr>
              <a:t> RTMP</a:t>
            </a:r>
            <a:r>
              <a:rPr lang="en-US" sz="1100" dirty="0">
                <a:solidFill>
                  <a:schemeClr val="bg1"/>
                </a:solidFill>
              </a:rPr>
              <a:t>, or </a:t>
            </a:r>
            <a:r>
              <a:rPr lang="en-US" sz="1100" b="1" dirty="0">
                <a:solidFill>
                  <a:schemeClr val="bg1"/>
                </a:solidFill>
              </a:rPr>
              <a:t>WebRTC</a:t>
            </a:r>
            <a:r>
              <a:rPr lang="en-US" sz="1100" dirty="0">
                <a:solidFill>
                  <a:schemeClr val="bg1"/>
                </a:solidFill>
              </a:rPr>
              <a:t>. This live feed can be viewed on a mobile device or web dashboard by the operator or parent, enabling constant visual monitoring of the drone’s surroundings.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2) Manual Override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In case the AI encounters difficulty or confusion, a </a:t>
            </a:r>
            <a:r>
              <a:rPr lang="en-US" sz="1100" b="1" dirty="0">
                <a:solidFill>
                  <a:schemeClr val="bg1"/>
                </a:solidFill>
              </a:rPr>
              <a:t>manual override</a:t>
            </a:r>
            <a:r>
              <a:rPr lang="en-US" sz="1100" dirty="0">
                <a:solidFill>
                  <a:schemeClr val="bg1"/>
                </a:solidFill>
              </a:rPr>
              <a:t> is possible through a </a:t>
            </a:r>
            <a:r>
              <a:rPr lang="en-US" sz="1100" b="1" dirty="0">
                <a:solidFill>
                  <a:schemeClr val="bg1"/>
                </a:solidFill>
              </a:rPr>
              <a:t>ROS2 Action Server</a:t>
            </a:r>
            <a:r>
              <a:rPr lang="en-US" sz="1100" dirty="0">
                <a:solidFill>
                  <a:schemeClr val="bg1"/>
                </a:solidFill>
              </a:rPr>
              <a:t> or a </a:t>
            </a:r>
            <a:r>
              <a:rPr lang="en-US" sz="1100" b="1" dirty="0">
                <a:solidFill>
                  <a:schemeClr val="bg1"/>
                </a:solidFill>
              </a:rPr>
              <a:t>custom-built controller app</a:t>
            </a:r>
            <a:r>
              <a:rPr lang="en-US" sz="1100" dirty="0">
                <a:solidFill>
                  <a:schemeClr val="bg1"/>
                </a:solidFill>
              </a:rPr>
              <a:t>. This ensures that a human operator can take control instantly when necessary.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3) Smart Notifications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The system is integrated with </a:t>
            </a:r>
            <a:r>
              <a:rPr lang="en-US" sz="1100" b="1" dirty="0">
                <a:solidFill>
                  <a:schemeClr val="bg1"/>
                </a:solidFill>
              </a:rPr>
              <a:t>Firebase Cloud Messaging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b="1" dirty="0">
                <a:solidFill>
                  <a:schemeClr val="bg1"/>
                </a:solidFill>
              </a:rPr>
              <a:t>MQTT</a:t>
            </a:r>
            <a:r>
              <a:rPr lang="en-US" sz="1100" dirty="0">
                <a:solidFill>
                  <a:schemeClr val="bg1"/>
                </a:solidFill>
              </a:rPr>
              <a:t>, or </a:t>
            </a:r>
            <a:r>
              <a:rPr lang="en-US" sz="1100" b="1" dirty="0">
                <a:solidFill>
                  <a:schemeClr val="bg1"/>
                </a:solidFill>
              </a:rPr>
              <a:t>Twilio</a:t>
            </a:r>
            <a:r>
              <a:rPr lang="en-US" sz="1100" dirty="0">
                <a:solidFill>
                  <a:schemeClr val="bg1"/>
                </a:solidFill>
              </a:rPr>
              <a:t> to send automatic alerts when:</a:t>
            </a:r>
          </a:p>
          <a:p>
            <a:pPr lvl="1"/>
            <a:r>
              <a:rPr lang="en-US" sz="1100" dirty="0">
                <a:solidFill>
                  <a:schemeClr val="bg1"/>
                </a:solidFill>
              </a:rPr>
              <a:t>The child is detected.</a:t>
            </a:r>
          </a:p>
          <a:p>
            <a:pPr lvl="1"/>
            <a:r>
              <a:rPr lang="en-US" sz="1100" dirty="0">
                <a:solidFill>
                  <a:schemeClr val="bg1"/>
                </a:solidFill>
              </a:rPr>
              <a:t>The drone's path is modified.</a:t>
            </a:r>
          </a:p>
          <a:p>
            <a:pPr lvl="1"/>
            <a:r>
              <a:rPr lang="en-US" sz="1100" dirty="0">
                <a:solidFill>
                  <a:schemeClr val="bg1"/>
                </a:solidFill>
              </a:rPr>
              <a:t>Important decisions (like switching to manual control) occur.</a:t>
            </a:r>
          </a:p>
          <a:p>
            <a:pPr lvl="1"/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4) Edge + Cloud Hybrid AI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To optimize performance, the drone performs lightweight AI tasks locally (on edge devices like Jetson Nano), while heavier computations and storage can be offloaded to the cloud using services like </a:t>
            </a:r>
            <a:r>
              <a:rPr lang="en-US" sz="1100" b="1" dirty="0">
                <a:solidFill>
                  <a:schemeClr val="bg1"/>
                </a:solidFill>
              </a:rPr>
              <a:t>AWS Greengrass</a:t>
            </a:r>
            <a:r>
              <a:rPr lang="en-US" sz="1100" dirty="0">
                <a:solidFill>
                  <a:schemeClr val="bg1"/>
                </a:solidFill>
              </a:rPr>
              <a:t> or </a:t>
            </a:r>
            <a:r>
              <a:rPr lang="en-US" sz="1100" b="1" dirty="0">
                <a:solidFill>
                  <a:schemeClr val="bg1"/>
                </a:solidFill>
              </a:rPr>
              <a:t>Azure IoT Edge</a:t>
            </a:r>
            <a:r>
              <a:rPr lang="en-US" sz="1100" dirty="0">
                <a:solidFill>
                  <a:schemeClr val="bg1"/>
                </a:solidFill>
              </a:rPr>
              <a:t>. This ensures fast decision-making with synchronized updates to the ground station or monitoring app.</a:t>
            </a:r>
          </a:p>
          <a:p>
            <a:endParaRPr lang="en-IN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Google Shape;239;p19"/>
          <p:cNvGraphicFramePr/>
          <p:nvPr/>
        </p:nvGraphicFramePr>
        <p:xfrm>
          <a:off x="603025" y="15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{CEB68175-97BA-4418-8D59-A58B6E8AA35B}</a:tableStyleId>
              </a:tblPr>
              <a:tblGrid>
                <a:gridCol w="221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chemeClr val="lt1"/>
                          </a:solidFill>
                        </a:rPr>
                        <a:t>Sensor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chemeClr val="lt1"/>
                          </a:solidFill>
                        </a:rPr>
                        <a:t>Purpose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chemeClr val="lt1"/>
                          </a:solidFill>
                        </a:rPr>
                        <a:t>Typical Placement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chemeClr val="lt1"/>
                          </a:solidFill>
                        </a:rPr>
                        <a:t>IMU (Inertial Measurement Unit)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</a:rPr>
                        <a:t>Measures acceleration and angular velocity (pitch, roll, yaw)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</a:rPr>
                        <a:t>Internal (Pixhawk/FC)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chemeClr val="lt1"/>
                          </a:solidFill>
                        </a:rPr>
                        <a:t>Barometer (Altimeter)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</a:rPr>
                        <a:t>Estimates altitude using air pressure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</a:rPr>
                        <a:t>Internal (Pixhawk/FC)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chemeClr val="lt1"/>
                          </a:solidFill>
                        </a:rPr>
                        <a:t>Magnetometer (Compass)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</a:rPr>
                        <a:t>Provides heading (yaw), necessary for navigation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</a:rPr>
                        <a:t>External (with GPS) or internal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chemeClr val="lt1"/>
                          </a:solidFill>
                        </a:rPr>
                        <a:t>GPS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</a:rPr>
                        <a:t>Provides global coordinates, speed, altitude, UTC time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</a:rPr>
                        <a:t>External, on mast for clear sky view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0" name="Google Shape;240;p19"/>
          <p:cNvSpPr txBox="1"/>
          <p:nvPr/>
        </p:nvSpPr>
        <p:spPr>
          <a:xfrm>
            <a:off x="1297500" y="165100"/>
            <a:ext cx="6774000" cy="119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</a:rPr>
              <a:t>These are mandatory for </a:t>
            </a:r>
            <a:r>
              <a:rPr lang="en-GB" sz="1300" b="1">
                <a:solidFill>
                  <a:schemeClr val="lt1"/>
                </a:solidFill>
              </a:rPr>
              <a:t>basic flight stabilization</a:t>
            </a:r>
            <a:r>
              <a:rPr lang="en-GB" sz="1300">
                <a:solidFill>
                  <a:schemeClr val="lt1"/>
                </a:solidFill>
              </a:rPr>
              <a:t>, </a:t>
            </a:r>
            <a:r>
              <a:rPr lang="en-GB" sz="1300" b="1">
                <a:solidFill>
                  <a:schemeClr val="lt1"/>
                </a:solidFill>
              </a:rPr>
              <a:t>orientation</a:t>
            </a:r>
            <a:r>
              <a:rPr lang="en-GB" sz="1300">
                <a:solidFill>
                  <a:schemeClr val="lt1"/>
                </a:solidFill>
              </a:rPr>
              <a:t>, and </a:t>
            </a:r>
            <a:r>
              <a:rPr lang="en-GB" sz="1300" b="1">
                <a:solidFill>
                  <a:schemeClr val="lt1"/>
                </a:solidFill>
              </a:rPr>
              <a:t>altitude control</a:t>
            </a:r>
            <a:r>
              <a:rPr lang="en-GB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latin typeface="Arial"/>
                <a:ea typeface="Arial"/>
                <a:cs typeface="Arial"/>
                <a:sym typeface="Arial"/>
              </a:rPr>
              <a:t>IMU (Inertial Measurement Unit)</a:t>
            </a:r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body" idx="1"/>
          </p:nvPr>
        </p:nvSpPr>
        <p:spPr>
          <a:xfrm>
            <a:off x="1297500" y="76550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1. IMU (Inertial Measurement Unit)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 b="1">
                <a:latin typeface="Arial"/>
                <a:ea typeface="Arial"/>
                <a:cs typeface="Arial"/>
                <a:sym typeface="Arial"/>
              </a:rPr>
              <a:t>Function: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Measures linear acceleration (accelerometer) and angular velocity (gyroscope).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 b="1">
                <a:latin typeface="Arial"/>
                <a:ea typeface="Arial"/>
                <a:cs typeface="Arial"/>
                <a:sym typeface="Arial"/>
              </a:rPr>
              <a:t>Usage: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Determines orientation (pitch, roll, yaw) and detects motion changes.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 b="1">
                <a:latin typeface="Arial"/>
                <a:ea typeface="Arial"/>
                <a:cs typeface="Arial"/>
                <a:sym typeface="Arial"/>
              </a:rPr>
              <a:t>Placement: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Internal to the flight controller (e.g., Pixhawk 6C has redundant IMUs).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 b="1">
                <a:latin typeface="Arial"/>
                <a:ea typeface="Arial"/>
                <a:cs typeface="Arial"/>
                <a:sym typeface="Arial"/>
              </a:rPr>
              <a:t>Interface: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Built-in or via I²C/SPI for external IMUs.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 b="1">
                <a:latin typeface="Arial"/>
                <a:ea typeface="Arial"/>
                <a:cs typeface="Arial"/>
                <a:sym typeface="Arial"/>
              </a:rPr>
              <a:t>Example Module: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MPU6000, ICM20689</a:t>
            </a:r>
            <a:endParaRPr/>
          </a:p>
        </p:txBody>
      </p:sp>
      <p:pic>
        <p:nvPicPr>
          <p:cNvPr id="247" name="Google Shape;2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794" y="2571750"/>
            <a:ext cx="3885207" cy="25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" name="Google Shape;252;p21"/>
          <p:cNvGraphicFramePr/>
          <p:nvPr/>
        </p:nvGraphicFramePr>
        <p:xfrm>
          <a:off x="1297500" y="1456050"/>
          <a:ext cx="7239000" cy="3407103"/>
        </p:xfrm>
        <a:graphic>
          <a:graphicData uri="http://schemas.openxmlformats.org/drawingml/2006/table">
            <a:tbl>
              <a:tblPr>
                <a:noFill/>
                <a:tableStyleId>{CEB68175-97BA-4418-8D59-A58B6E8AA35B}</a:tableStyleId>
              </a:tblPr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Sensor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Purpose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Typical Use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LiDAR (e.g., RPLiDAR, TF-Luna)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Obstacle avoidance, terrain mapping, height estimation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Forward, downward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Ultrasonic Sensor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Altitude hold in low altitudes, proximity sensing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Bottom-mounted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Optical Flow Sensor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Measures ground-relative motion; useful indoors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Downward-facing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Camera (Monocular/Stereo)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Visual navigation, object detection, SLAM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Front-facing / Downward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RTK GPS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Centimeter-level accurate GPS (vs standard GPS)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Mounted externally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3" name="Google Shape;253;p21"/>
          <p:cNvSpPr txBox="1"/>
          <p:nvPr/>
        </p:nvSpPr>
        <p:spPr>
          <a:xfrm>
            <a:off x="1297500" y="306575"/>
            <a:ext cx="7464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</a:rPr>
              <a:t>NAVIGATION &amp; POSITIONING SUPPORT SENSORS</a:t>
            </a: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These enhance navigation accuracy, particularly in GPS-denied or cluttered environments.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22"/>
          <p:cNvGraphicFramePr/>
          <p:nvPr/>
        </p:nvGraphicFramePr>
        <p:xfrm>
          <a:off x="1098825" y="1416500"/>
          <a:ext cx="7591425" cy="3193743"/>
        </p:xfrm>
        <a:graphic>
          <a:graphicData uri="http://schemas.openxmlformats.org/drawingml/2006/table">
            <a:tbl>
              <a:tblPr>
                <a:noFill/>
                <a:tableStyleId>{CEB68175-97BA-4418-8D59-A58B6E8AA35B}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Sensor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Purpose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Usage Example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RGB Color Sensor (e.g., TCS34725)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Detect color-coded landing zones or line-following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Bottom-facing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Infrared Sensors (IR)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Obstacle detection (short-range)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Side / front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Thermal Camera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Thermal mapping, night vision, search &amp; rescue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Mounted on gimbal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CO₂ / Gas Sensors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Environmental sensing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Research / industrial drones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Environmental Sensors (Temp, Humidity)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Weather/environmental monitoring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Data collection drones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9" name="Google Shape;259;p22"/>
          <p:cNvSpPr txBox="1"/>
          <p:nvPr/>
        </p:nvSpPr>
        <p:spPr>
          <a:xfrm>
            <a:off x="1563750" y="235075"/>
            <a:ext cx="7126500" cy="9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1700" b="1">
                <a:solidFill>
                  <a:schemeClr val="lt1"/>
                </a:solidFill>
              </a:rPr>
              <a:t>MISSION &amp; ENVIRONMENT INTERACTION SENSORS</a:t>
            </a:r>
            <a:endParaRPr sz="17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" name="Google Shape;264;p23"/>
          <p:cNvGraphicFramePr/>
          <p:nvPr/>
        </p:nvGraphicFramePr>
        <p:xfrm>
          <a:off x="1756475" y="1756475"/>
          <a:ext cx="6048375" cy="2797533"/>
        </p:xfrm>
        <a:graphic>
          <a:graphicData uri="http://schemas.openxmlformats.org/drawingml/2006/table">
            <a:tbl>
              <a:tblPr>
                <a:noFill/>
                <a:tableStyleId>{CEB68175-97BA-4418-8D59-A58B6E8AA35B}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Sensor/System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Purpose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Example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3D LiDAR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Full 3D obstacle map generation, SLAM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HolyBro, Rp Lidar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Stereo Depth Cameras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Depth sensing, terrain reconstruction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Intel RealSense, Zed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Radar (FMCW)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Penetrates fog, dust, low-light conditions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High-end mapping drones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SLAM Modules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Visual + sensor fusion for autonomous mapping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ORB-SLAM, RTAB-Map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5" name="Google Shape;265;p23"/>
          <p:cNvSpPr txBox="1"/>
          <p:nvPr/>
        </p:nvSpPr>
        <p:spPr>
          <a:xfrm>
            <a:off x="1646400" y="0"/>
            <a:ext cx="74976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1700" b="1">
                <a:solidFill>
                  <a:schemeClr val="lt1"/>
                </a:solidFill>
              </a:rPr>
              <a:t>ADVANCED SENSOR SYSTEMS (Optional but powerful)</a:t>
            </a:r>
            <a:endParaRPr sz="17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1002</Words>
  <Application>Microsoft Office PowerPoint</Application>
  <PresentationFormat>On-screen Show (16:9)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Montserrat</vt:lpstr>
      <vt:lpstr>Arial</vt:lpstr>
      <vt:lpstr>Lato</vt:lpstr>
      <vt:lpstr>Focus</vt:lpstr>
      <vt:lpstr>Drone fundamentals (sensors etc)</vt:lpstr>
      <vt:lpstr>SENSORS</vt:lpstr>
      <vt:lpstr>AI Approach and the Model which can be considered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IMU (Inertial Measurement Unit)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Soham Gogawale</dc:creator>
  <cp:lastModifiedBy>Soham Gogawale</cp:lastModifiedBy>
  <cp:revision>2</cp:revision>
  <dcterms:modified xsi:type="dcterms:W3CDTF">2025-06-26T05:58:17Z</dcterms:modified>
</cp:coreProperties>
</file>